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8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7" r:id="rId15"/>
    <p:sldId id="268" r:id="rId16"/>
    <p:sldId id="270" r:id="rId17"/>
    <p:sldId id="271" r:id="rId18"/>
    <p:sldId id="272" r:id="rId19"/>
    <p:sldId id="273" r:id="rId20"/>
    <p:sldId id="288" r:id="rId21"/>
    <p:sldId id="284" r:id="rId22"/>
    <p:sldId id="28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8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8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covers: what databases are, how they are secured natively, the risks, how Imperva DAM addresses them, our deployment at DPE, and all product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62C7-B76C-E808-4D53-DCC740D7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D1C7F-8719-B7D2-5842-D71CAF4EC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9D028-E989-366B-7E7B-A3D11146F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C087-B828-0147-9D75-49B3E8C88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01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Q&amp;A. Next step: schedule production deployment planning session with DPE IT and DBA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ranNoorEmon/Imperva_DAM_Deployment_Procedur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2E5090">
              <a:alpha val="20000"/>
            </a:srgbClr>
          </a:solidFill>
          <a:ln w="12700">
            <a:solidFill>
              <a:srgbClr val="2E5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200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Activity Monitoring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Imperva SecureSphere DAM — Deployment at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Primary Education (DPE), Bangladesh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926080" y="3520440"/>
            <a:ext cx="3291840" cy="457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Infosonik Systems Limited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86384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42416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42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05256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5256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types, stakeholders &amp; real-world examples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 Fundamentals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controls across Oracle, SQL Server, EDB, MySQL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017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5256" y="2980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Vulnerabilities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256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native controls alone are not enough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05072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40050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" y="3968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Imperva DAM Fills the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" y="4261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zero-impact monitoring, real-time blocking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42416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042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48656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at DPE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48656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installation: agent → gateway → MX verification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029968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48656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48656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95 operational components organised by category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93776" cy="49377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3017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2980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impact &amp; production go-live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1: What is a Database?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Definition, Types, Stakeholders &amp; Real-World Use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Fundamentals: Definition, Characteristics &amp; Stakeholders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organised, electronic system for storing, retrieving, and managing structured data at scale. Unlike a spreadsheet, it handles massive data volumes while guaranteeing consistency, accuracy and concurrent multi-user access.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(e.g., Oracle, SQL Server) is the software layer that interacts with users and enforces rules — the engine behind the database container.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Characteristics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904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47088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corruption; ensures data correctness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4178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47088" y="4178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DPE teachers can update records simultaneously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453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47088" y="4453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power failure or system crash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978408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58384" y="1005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Databases?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28032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Multiple Applications</a:t>
            </a:r>
          </a:p>
        </p:txBody>
      </p:sp>
      <p:sp>
        <p:nvSpPr>
          <p:cNvPr id="18" name="Text 15"/>
          <p:cNvSpPr/>
          <p:nvPr/>
        </p:nvSpPr>
        <p:spPr>
          <a:xfrm>
            <a:off x="4828032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Database Admins (DBAs): manage health, backups, performance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28032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Analysts: generate enrollment/resource reports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28032" y="2249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Decision Makers: long-term educational planning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28032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Security: access controls and audit compliance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2944368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28032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For at DPE?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28032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Centralise millions of student &amp; teacher records nationwide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28032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Automate payroll, textbook distribution &amp; attendance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28032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Historical archiving for decades of educational data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28032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Secure PII of millions of citizens — a national necessity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7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database architecture&#10;&#10;AI-generated content may be incorrect.">
            <a:extLst>
              <a:ext uri="{FF2B5EF4-FFF2-40B4-BE49-F238E27FC236}">
                <a16:creationId xmlns:a16="http://schemas.microsoft.com/office/drawing/2014/main" id="{79D8F0EE-824B-BF64-34E1-018F6A951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60" y="482600"/>
            <a:ext cx="5864279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Database Types &amp; Industry Standards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402336"/>
          </a:xfrm>
          <a:prstGeom prst="rect">
            <a:avLst/>
          </a:prstGeom>
          <a:solidFill>
            <a:srgbClr val="0D2E6E"/>
          </a:solidFill>
          <a:ln w="12700">
            <a:solidFill>
              <a:srgbClr val="0D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(RDBMS)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005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enterprise type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408176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tables (rows &amp; columns), linked by unique keys. Strong ACID compliance ensures integrity in critical systems. Uses SQL.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Oracle 19c  ·  Microsoft SQL Server  ·  EDB Postgres  ·  MySQL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69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Non-Relational (NoSQL)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1005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unstructured 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18888" y="1408176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Schema-less storage for documents, key-value pairs, graphs, or wide-column data. Horizontally scalable for real-time workloads.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223113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MongoDB  ·  Redis  ·  Cassandra  ·  Couchbase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411480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2926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 response times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328416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entirely in RAM. Used for caching, real-time analytics, and session management where disk I/O is too slow.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415137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Redis  ·  Memcached  ·  SAP HANA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4114800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2926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across sites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328416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multiple physical locations or servers. If one site fails (e.g., DPE regional office), data remains available elsewhere.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415137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AWS RDS  ·  Azure SQL  ·  Google Cloud Spanner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2: Database Security Fundamentals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Controls — Four Pillars &amp; Vendor Implementations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Databases Secure Data Natively: 4 Pillars + Vendor Controls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3272" y="978408"/>
            <a:ext cx="585216" cy="58521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024128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LDAP/AD integration, biometrics — verifying the identity of every user or application before granting any access.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96312" y="91440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9544" y="978408"/>
            <a:ext cx="585216" cy="58521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1024128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4203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do?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42032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 grants: READ for a teacher, UPDATE for an admin, EXECUTE for a stored procedure — no more, no less.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72584" y="91440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385816" y="978408"/>
            <a:ext cx="585216" cy="58521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024128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18304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18304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read it?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18304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 for data at rest; SSL/TLS in transit. Even if storage media is stolen, data is unreadable without the decryption key.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848856" y="914400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62088" y="978408"/>
            <a:ext cx="585216" cy="585216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024128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Auditing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94576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what?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94576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log files recording logins, timestamps, and executed queries — the internal trace that Imperva later supersedes.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320040" y="2999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Native Security Controls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20040" y="3383280"/>
            <a:ext cx="1234440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320040" y="3538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1581912" y="3383280"/>
            <a:ext cx="30632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1691640" y="344728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 encryption · Virtual Private Database (VPD) · Fine-Grained Auditing · Database Vault · Label Security · Audit Vault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663440" y="3383280"/>
            <a:ext cx="123444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663440" y="3538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EDB Postgres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925312" y="3383280"/>
            <a:ext cx="30632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035040" y="344728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(RLS) · pg_audit extension · pgcrypto · LDAP/Kerberos auth · EDB Audit plugin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4096512"/>
            <a:ext cx="1234440" cy="62179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2004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1581912" y="4096512"/>
            <a:ext cx="30632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1691640" y="416052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Firewall · Role-Based Access Control (RBAC) · InnoDB encryption · Enterprise Audit plugin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663440" y="4096512"/>
            <a:ext cx="1234440" cy="62179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466344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5925312" y="4096512"/>
            <a:ext cx="30632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6035040" y="416052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Encrypted · TDE · Dynamic Data Masking · Row-Level Security · SQL Server Audit · Extended Events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3: Risks &amp; Vulnerabilities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Native Security Alone Cannot Protect Your Data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Risks, Vulnerabilities &amp; the Limits of Native Security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931920"/>
          </a:xfrm>
          <a:prstGeom prst="rect">
            <a:avLst/>
          </a:prstGeom>
          <a:solidFill>
            <a:srgbClr val="FFFAF9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Threats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SQL Injection (SQLi)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SQL injected via web forms executes against the DB. Native databases cannot distinguish a legitimate app query from a SQLi attack.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Privilege Abuse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require high-level access. If credentials are stolen or a DBA goes rogue, native security cannot stop them — they are the gatekeeper.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734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Unpatched Vulnerabilities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08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CVEs in Oracle or SQL Server can be exploited before the vendor even releases a fix. Regular patching is critical.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Misconfigurations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66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passwords left active, PUBLIC access granted to sensitive tables — complexity creates loopholes that attackers exploit.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1005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Native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Performance Penalty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native auditing (logging every SELECT) consumes massive CPU &amp; disk I/O, degrading application performance.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Segregation of Duties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manage both the database AND its audit logs. A malicious DBA can steal data then delete the evidence — a critical compliance failure.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734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Reactive, Not Proactive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008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logs record what happened after the fact. There is no real-time block when 10,000 student records are being extracted right now.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28032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Siloed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666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SQL Server, Postgres each use different audit systems. No single unified security view across the entire DPE infrastructure.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4: How Imperva DAM Fills the Gap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· Blocking · Compliance · Unified Visibility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Imperva DAM Completely Solves the Security Deficit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continuously monitors 100% of database activity in real time, independent of the database, storing tamper-proof logs on a separate hardened server — eliminating every gap native security leaves open.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993392"/>
            <a:ext cx="4160520" cy="34747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039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Performance Penalty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41401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DAM Solution: Zero-impact OS-level agent never uses the database's CPU or memory for analysis. DB runs at 100% efficiency.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993392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993392"/>
            <a:ext cx="4160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039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 Segregation of Duties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241401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DAM Solution: Audit logs stored on MX Management Server. DBAs have zero access to Imperva — they cannot delete evidence of their own actions.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41605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502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Reactive Logging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387705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DAM Solution: Real-time blocking. If a SQL injection or bulk data extraction is detected, the Gateway severs the connection instantly — before data leaves.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456432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456432"/>
            <a:ext cx="416052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502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Siloed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87705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DAM Solution: Single pane of glass. One policy ('Alert on PII table access') applies across Oracle, Postgres, SQL Server, and MySQL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Imperva DAM: Three-Tier Decoupled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4688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468880" cy="56692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926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1521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(Sensor)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Deployed on the database host OS — kernel level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analysis done locally; forwards traffic only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Captures LOCAL admin sessions (IPC/BEQ) — the most critical blind spot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456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KABI integration for Linux/Oracle kernels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40782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Near-zero CPU/memory footprint on the DB server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914400"/>
            <a:ext cx="310896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926080" y="914400"/>
            <a:ext cx="3108960" cy="5669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99232" y="9692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99232" y="11521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(Brain)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35808" y="15910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Sits off the database — separate appliance or VM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35808" y="22128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Receives all agent traffic over encrypted port 443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35808" y="28346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Parses every SQL query in real time — full context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35808" y="34564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Checks against security policies: SQLi signatures, profile deviations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35808" y="40782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 mitigation: TCP reset issued BEFORE the DB executes malicious SQL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35808" y="47000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Gateway can service multiple databases &amp; agents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914400"/>
            <a:ext cx="2633472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99632" y="914400"/>
            <a:ext cx="2633472" cy="566928"/>
          </a:xfrm>
          <a:prstGeom prst="rect">
            <a:avLst/>
          </a:prstGeom>
          <a:solidFill>
            <a:srgbClr val="4A0080"/>
          </a:solidFill>
          <a:ln w="12700">
            <a:solidFill>
              <a:srgbClr val="4A0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72784" y="96926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72784" y="115214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MX Server (Command Centre)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591056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Centralized Web UI console for all config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2212848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Tamper-proof immutable audit log vault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83464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DBAs have NO access — absolute separation of duties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345643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Advanced analytics, dashboards &amp; compliance reports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07822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Triggers Action Sets: SMS, Email, SIEM forwarding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61488" y="2852928"/>
            <a:ext cx="16459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53328" y="2852928"/>
            <a:ext cx="146304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97480" y="2724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61888" y="2724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5C4C765-763F-6DB0-0659-D64BD324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46628"/>
            <a:ext cx="8458200" cy="425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35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5: Deployment at DPE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Installation: Agent → Gateway → MX Console → Verification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0: Agent Installation on Database Server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0352" cy="53035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" y="1536192"/>
            <a:ext cx="0" cy="237744"/>
          </a:xfrm>
          <a:prstGeom prst="line">
            <a:avLst/>
          </a:prstGeom>
          <a:noFill/>
          <a:ln w="19050">
            <a:solidFill>
              <a:srgbClr val="0096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932688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Reconnaissance Script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Imperva FTP → navigate to the misc directory → download which_ragent.sh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530352" cy="53035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828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" y="2359152"/>
            <a:ext cx="0" cy="237744"/>
          </a:xfrm>
          <a:prstGeom prst="line">
            <a:avLst/>
          </a:prstGeom>
          <a:noFill/>
          <a:ln w="19050">
            <a:solidFill>
              <a:srgbClr val="0096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1755648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Analysis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1031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which_ragent.sh on the database server — it analyses the OS version and kernel footprint to identify the exact compatible agent package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530352" cy="53035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651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216" y="3182112"/>
            <a:ext cx="0" cy="237744"/>
          </a:xfrm>
          <a:prstGeom prst="line">
            <a:avLst/>
          </a:prstGeom>
          <a:noFill/>
          <a:ln w="19050">
            <a:solidFill>
              <a:srgbClr val="0096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5840" y="2578608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2633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Agent Package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" y="29260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Imperva FTP and download the recommended binary — install.sh or .bsx package, plus the KABI file if the Linux kernel requires 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530352" cy="53035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216" y="4005072"/>
            <a:ext cx="0" cy="237744"/>
          </a:xfrm>
          <a:prstGeom prst="line">
            <a:avLst/>
          </a:prstGeom>
          <a:noFill/>
          <a:ln w="19050">
            <a:solidFill>
              <a:srgbClr val="0096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3401568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Installation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" y="37490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 as root. Provide the KABI file where required for deep OS-level kernel traffic interception on Linux/Oracle systems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97680"/>
            <a:ext cx="530352" cy="53035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297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5840" y="4224528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3000" y="4279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Link to Gateway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3000" y="45720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 to the Imperva Gateway IP address — this establishes the secure SSL communication tunnel on port 443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1 – 3: Logical Hierarchy, Gateway Listener &amp; Agent Mapping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417320" cy="123444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Infrastructure (Sites &amp; Servers)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01952" y="914400"/>
            <a:ext cx="6949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29968" y="10058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Setup &gt; Sites — create Site (e.g., 'DPE Datacenter')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29968" y="128016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Server Group by OS/DB type: linux_oracle_db  |  windows_server_db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9968" y="15544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Server: exact IP address + Hostname of the agent host machine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9968" y="18288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Database Service: select type (Oracle / MS SQL) and listening port (1521 / 1433)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04288"/>
            <a:ext cx="1417320" cy="12344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59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67004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Listener Configuration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01952" y="2304288"/>
            <a:ext cx="6949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29968" y="23957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Navigate to Setup &gt; Gateways → select the active Gateway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9968" y="267004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Confirm Agent Listener is active on Port 443 with SSL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9968" y="29443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agent-to-Gateway traffic is heavily encrypted in transit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94176"/>
            <a:ext cx="1417320" cy="12344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749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0599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 &amp; Database Service Mapping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01952" y="3694176"/>
            <a:ext cx="6949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29968" y="378561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Setup &gt; Agents — the installed agent appears automatically (validates network path)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29968" y="40599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Settings tab → assign agent to the Server Group created in Phase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29968" y="43342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Enable Agent Monitoring specifically for the newly created Database Service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29968" y="460857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binds the agent's captured traffic to the correct audit policy scope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4 – 5: Data Interface Binding (Critical) &amp; Live Verification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Data Interface Binding — Critical for Capturing Local Traffic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selected → Data Interfaces tab: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auto-discovered interfaces on the right 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MS SQL Server: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3898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Un-ignore: MssQL IPC (local SSMS sessions) + TCP (remote app queries)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Oracle Database: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9385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Un-ignore: Oracle BEQ + Oracle IPC (local DBA terminal) + TCP (remote)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9385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un-ignored interface: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19385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Service drop-down → match exact Database Service created in Phase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4871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IPC/BEQ, DBA terminal sessions are completely invisible — the most dangerous blind spot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4871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24871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in the top right corner to activate monitoring on all mapped interfaces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8503920" cy="13898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8503920" cy="3840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Live Verification — Confirming 100% Capture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Navigate to Audit &gt; DB Audit Data  →  select Data view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Execute test queries directly on the database — both remote (app simulation) and local (as admin)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Set Time Frame to 'Last Hour'  →  click Update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3159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Both query types now visible in logs: confirms successful capture, parsing, and tamper-proof storage on MX ✔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6: Features &amp; Functionalities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95 Operational Components — Organised by Category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3079E-A2E3-7AD7-FEDF-BA0A0E13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39A416-C2B8-1FB8-14A8-0C964A2285E1}"/>
              </a:ext>
            </a:extLst>
          </p:cNvPr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823F2C-0FC4-FBBD-85A4-913717902FA4}"/>
              </a:ext>
            </a:extLst>
          </p:cNvPr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2E5090">
              <a:alpha val="25000"/>
            </a:srgbClr>
          </a:solidFill>
          <a:ln w="12700">
            <a:solidFill>
              <a:srgbClr val="2E5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54D5B3-D74B-1EB5-0F49-77F11F4865E9}"/>
              </a:ext>
            </a:extLst>
          </p:cNvPr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b="1" dirty="0">
              <a:solidFill>
                <a:srgbClr val="FFFFFF"/>
              </a:solidFill>
              <a:latin typeface="Cambria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19D935-C4D5-E009-7C44-B1E06DC08D95}"/>
              </a:ext>
            </a:extLst>
          </p:cNvPr>
          <p:cNvSpPr/>
          <p:nvPr/>
        </p:nvSpPr>
        <p:spPr>
          <a:xfrm>
            <a:off x="731520" y="2002336"/>
            <a:ext cx="7680960" cy="216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Link:</a:t>
            </a:r>
          </a:p>
          <a:p>
            <a:pPr algn="ctr"/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https://github.com/ImranNoorEmon/Imperva_DAM_Deployment_Procedure</a:t>
            </a:r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5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7AA3F7C-D6BA-C539-89A4-5F52F4AD2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61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Imperva DAM: Risk Elimination Summary at DPE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841248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2670048" cy="585216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017520" y="1225296"/>
            <a:ext cx="25603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932688"/>
            <a:ext cx="557784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14984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SQL Protocol &amp; Profile policies detect malformed / excessively long queries; Gateway issues TCP reset before the DB executes the malicious statement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670048" cy="585216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Abuse / Insider Threat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25603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627632"/>
            <a:ext cx="557784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709928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Behavioural profiling flags any query or table access outside the user's learned whitelist; tamper-proof logs on MX — DBAs cannot delete their own audit trail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2670048" cy="585216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2322576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Credentials (Hashed User)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17520" y="2615184"/>
            <a:ext cx="25603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2322576"/>
            <a:ext cx="557784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2404872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DB server SSL certificate upload + Kerberos key configuration reveals true usernames in every audit record — zero blind spots in the identity trail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670048" cy="585216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Exfiltration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017520" y="3310128"/>
            <a:ext cx="25603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557784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0" y="3099816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Extended DB Response auditing + anomalous row-count SIEM alerts + real-time blocking stop data theft before it leaves the network perimeter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12464"/>
            <a:ext cx="2670048" cy="585216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3712464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Gaps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017520" y="4005072"/>
            <a:ext cx="25603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3712464"/>
            <a:ext cx="557784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CIS / DISA-STIG / PCI-DSS built-in assessments with CVSS scoring; automated quarterly compliance reports distributed to DPE auditors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407408"/>
            <a:ext cx="2670048" cy="585216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0040" y="4407408"/>
            <a:ext cx="2670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Rogue / Shadow Databases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017520" y="4700016"/>
            <a:ext cx="256032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4407408"/>
            <a:ext cx="557784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4489704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Service Discovery Scans actively probe all subnets; any unprotected database spun up by a DBA is detected and auto-added to the protection scope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474720" cy="3474720"/>
          </a:xfrm>
          <a:prstGeom prst="ellipse">
            <a:avLst/>
          </a:prstGeom>
          <a:solidFill>
            <a:srgbClr val="009688">
              <a:alpha val="22000"/>
            </a:srgbClr>
          </a:solidFill>
          <a:ln w="12700">
            <a:solidFill>
              <a:srgbClr val="0096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926080"/>
            <a:ext cx="2926080" cy="2926080"/>
          </a:xfrm>
          <a:prstGeom prst="ellipse">
            <a:avLst/>
          </a:prstGeom>
          <a:solidFill>
            <a:srgbClr val="2E5090">
              <a:alpha val="20000"/>
            </a:srgbClr>
          </a:solidFill>
          <a:ln w="12700">
            <a:solidFill>
              <a:srgbClr val="2E5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6420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20040" y="2578608"/>
            <a:ext cx="420624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2843784"/>
            <a:ext cx="548640" cy="54864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880360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6517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Capability Verified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069848" y="29992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95 operational components of Imperva DAM confirmed on DPE test environment — from UI management to full risk governance.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54880" y="2578608"/>
            <a:ext cx="420624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846320" y="284378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880360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04688" y="26517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Native Logs Replaced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504688" y="29992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external audit architecture permanently bridges the insider-threat and DBA blind spots native security leaves open.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0040" y="3749040"/>
            <a:ext cx="420624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11480" y="4014216"/>
            <a:ext cx="548640" cy="5486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4050792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9848" y="38221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Governance Realised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069848" y="41696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behavioural profiling, and User Rights Management give DPE full visibility over sensitive data and effective user permissions.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754880" y="3749040"/>
            <a:ext cx="420624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846320" y="4014216"/>
            <a:ext cx="548640" cy="548640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4050792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04688" y="38221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Ready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504688" y="416966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steps proven, MX hierarchy mapped, and policy simulation workflow validated. Ready to scale to live IPEMIS production databases.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926080" y="4681728"/>
            <a:ext cx="3291840" cy="457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Infosonik Systems Limited  ·  Imperva SecureSphere  ·  DPE Bangladesh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2311</Words>
  <Application>Microsoft Office PowerPoint</Application>
  <PresentationFormat>On-screen Show (16:9)</PresentationFormat>
  <Paragraphs>258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Imperva DAM – DPE Bangladesh</dc:title>
  <dc:subject>PptxGenJS Presentation</dc:subject>
  <dc:creator>Infosonik Systems Limited</dc:creator>
  <cp:lastModifiedBy>HP</cp:lastModifiedBy>
  <cp:revision>3</cp:revision>
  <dcterms:created xsi:type="dcterms:W3CDTF">2026-06-15T07:44:19Z</dcterms:created>
  <dcterms:modified xsi:type="dcterms:W3CDTF">2026-10-07T03:52:21Z</dcterms:modified>
</cp:coreProperties>
</file>