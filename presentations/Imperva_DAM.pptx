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86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8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10"/>
  </p:normalViewPr>
  <p:slideViewPr>
    <p:cSldViewPr snapToGrid="0" snapToObjects="1">
      <p:cViewPr>
        <p:scale>
          <a:sx n="108" d="100"/>
          <a:sy n="108" d="100"/>
        </p:scale>
        <p:origin x="758" y="4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081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covers: what databases are, how they are secured natively, the risks, how Imperva DAM addresses them, our deployment at DPE, and all product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Q&amp;A. Next step: schedule production deployment planning session with DPE IT and DBA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114800" cy="41148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2560320"/>
            <a:ext cx="3474720" cy="3474720"/>
          </a:xfrm>
          <a:prstGeom prst="ellipse">
            <a:avLst/>
          </a:prstGeom>
          <a:solidFill>
            <a:srgbClr val="2E5090">
              <a:alpha val="20000"/>
            </a:srgbClr>
          </a:solidFill>
          <a:ln w="12700">
            <a:solidFill>
              <a:srgbClr val="2E509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32004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691640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Activity Monitoring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2606040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Imperva SecureSphere DAM — Deployment at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Directorate of Primary Education (DPE), Bangladesh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2926080" y="3520440"/>
            <a:ext cx="3291840" cy="45720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Infosonik Systems Limited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786384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1042416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0424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05256" y="10058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05256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Definition, types, stakeholders &amp; real-world examples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2029968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20299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05256" y="19933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Security Fundamentals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05256" y="22860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controls across Oracle, SQL Server, EDB, MySQL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3017520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3017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05256" y="29809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Vulnerabilities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05256" y="3273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native controls alone are not enough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4005072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40050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05256" y="39684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Imperva DAM Fills the Gap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5256" y="42611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zero-impact monitoring, real-time blocking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042416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63440" y="10424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48656" y="10058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at DPE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48656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5-phase installation: agent → gateway → MX verification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2029968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63440" y="20299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48656" y="19933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&amp; Functionalities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248656" y="22860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95 operational components organised by category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017520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63440" y="3017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48656" y="29809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248656" y="3273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impact &amp; production go-live roadmap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1: What is a Database?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— Definition, Types, Stakeholders &amp; Real-World Use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Fundamentals: Definition, Characteristics &amp; Stakeholders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605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794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organised, electronic system for storing, retrieving, and managing structured data at scale. Unlike a spreadsheet, it handles massive data volumes while guaranteeing consistency, accuracy and concurrent multi-user access.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DBMS (e.g., Oracle, SQL Server) is the software layer that interacts with users and enforces rules — the engine behind the database container.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5661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Characteristics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390448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Integrity: 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47088" y="390448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corruption; ensures data correctness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41788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Concurrency: 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847088" y="41788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DPE teachers can update records simultaneously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02920" y="445312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847088" y="44531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survives power failure or system crash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914400"/>
            <a:ext cx="4160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978408"/>
            <a:ext cx="438912" cy="43891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358384" y="100584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Databases?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828032" y="14813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End-Users: DPE officials, teachers, school staff (IPEMIS)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828032" y="1737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Database Admins (DBAs): manage health, backups, performance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28032" y="1993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 Analysts: generate enrollment/resource reports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828032" y="22494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Decision Makers: long-term educational planning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828032" y="25054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IT Security: access controls and audit compliance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663440" y="2944368"/>
            <a:ext cx="416052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828032" y="301752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 For at DPE?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828032" y="34381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Centralise millions of student &amp; teacher records nationwide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828032" y="37673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Automate payroll, textbook distribution &amp; attendance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28032" y="40965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Historical archiving for decades of educational data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828032" y="442569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Secure PII of millions of citizens — a national necessity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C7C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360045"/>
            <a:ext cx="8428482" cy="44234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diagram of a database architecture&#10;&#10;AI-generated content may be incorrect.">
            <a:extLst>
              <a:ext uri="{FF2B5EF4-FFF2-40B4-BE49-F238E27FC236}">
                <a16:creationId xmlns:a16="http://schemas.microsoft.com/office/drawing/2014/main" id="{79D8F0EE-824B-BF64-34E1-018F6A951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860" y="482600"/>
            <a:ext cx="5864279" cy="417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32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Database Types &amp; Industry Standards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402336"/>
          </a:xfrm>
          <a:prstGeom prst="rect">
            <a:avLst/>
          </a:prstGeom>
          <a:solidFill>
            <a:srgbClr val="0D2E6E"/>
          </a:solidFill>
          <a:ln w="12700">
            <a:solidFill>
              <a:srgbClr val="0D2E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9692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(RDBMS)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54680" y="10058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C8D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enterprise type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29768" y="1408176"/>
            <a:ext cx="3895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tables (rows &amp; columns), linked by unique keys. Strong ACID compliance ensures integrity in critical systems. Uses SQL.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2231136"/>
            <a:ext cx="3895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Oracle 19c  ·  Microsoft SQL Server  ·  EDB Postgres  ·  MySQL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09160" y="91440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9692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Non-Relational (NoSQL)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43800" y="10058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C8D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Flexible, unstructured data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818888" y="1408176"/>
            <a:ext cx="3895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 storage for documents, key-value pairs, graphs, or wide-column data. Horizontally scalable for real-time workloads.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18888" y="2231136"/>
            <a:ext cx="3895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MongoDB  ·  Redis  ·  Cassandra  ·  Couchbase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8346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4114800" cy="40233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28895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Database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154680" y="29260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C8D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Microsecond response times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29768" y="3328416"/>
            <a:ext cx="3895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data entirely in RAM. Used for caching, real-time analytics, and session management where disk I/O is too slow.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29768" y="4151376"/>
            <a:ext cx="3895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Redis  ·  Memcached  ·  SAP HANA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28346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09160" y="2834640"/>
            <a:ext cx="4114800" cy="402336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00600" y="28895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Database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543800" y="29260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C8D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 across sites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18888" y="3328416"/>
            <a:ext cx="3895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across multiple physical locations or servers. If one site fails (e.g., DPE regional office), data remains available elsewhere.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18888" y="4151376"/>
            <a:ext cx="3895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AWS RDS  ·  Azure SQL  ·  Google Cloud Spanner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2: Database Security Fundamentals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Controls — Four Pillars &amp; Vendor Implementations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Databases Secure Data Natively: 4 Pillars + Vendor Controls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116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33272" y="978408"/>
            <a:ext cx="585216" cy="58521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024128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16184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1920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you?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65760" y="22128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Passwords, LDAP/AD integration, biometrics — verifying the identity of every user or application before granting any access.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496312" y="914400"/>
            <a:ext cx="20116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09544" y="978408"/>
            <a:ext cx="585216" cy="58521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5264" y="1024128"/>
            <a:ext cx="493776" cy="4937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542032" y="16184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Authorisation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2542032" y="1920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you do?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2542032" y="22128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permission grants: READ for a teacher, UPDATE for an admin, EXECUTE for a stored procedure — no more, no less.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672584" y="914400"/>
            <a:ext cx="20116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385816" y="978408"/>
            <a:ext cx="585216" cy="58521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1024128"/>
            <a:ext cx="493776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718304" y="16184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718304" y="1920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read it?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4718304" y="22128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TDE for data at rest; SSL/TLS in transit. Even if storage media is stolen, data is unreadable without the decryption key.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6848856" y="914400"/>
            <a:ext cx="20116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7562088" y="978408"/>
            <a:ext cx="585216" cy="58521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7808" y="1024128"/>
            <a:ext cx="493776" cy="4937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94576" y="16184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Auditing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94576" y="1920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what?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894576" y="22128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log files recording logins, timestamps, and executed queries — the internal trace that Imperva later supersedes.</a:t>
            </a:r>
            <a:endParaRPr lang="en-US" sz="850" dirty="0"/>
          </a:p>
        </p:txBody>
      </p:sp>
      <p:sp>
        <p:nvSpPr>
          <p:cNvPr id="28" name="Text 22"/>
          <p:cNvSpPr/>
          <p:nvPr/>
        </p:nvSpPr>
        <p:spPr>
          <a:xfrm>
            <a:off x="320040" y="2999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Vendor-Specific Native Security Controls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320040" y="3383280"/>
            <a:ext cx="1234440" cy="62179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/>
          <p:nvPr/>
        </p:nvSpPr>
        <p:spPr>
          <a:xfrm>
            <a:off x="320040" y="3538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1581912" y="3383280"/>
            <a:ext cx="3063240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6"/>
          <p:cNvSpPr/>
          <p:nvPr/>
        </p:nvSpPr>
        <p:spPr>
          <a:xfrm>
            <a:off x="1691640" y="3447288"/>
            <a:ext cx="2880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TDE encryption · Virtual Private Database (VPD) · Fine-Grained Auditing · Database Vault · Label Security · Audit Vault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4663440" y="3383280"/>
            <a:ext cx="1234440" cy="62179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4663440" y="3538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EDB Postgres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925312" y="3383280"/>
            <a:ext cx="3063240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/>
          <p:nvPr/>
        </p:nvSpPr>
        <p:spPr>
          <a:xfrm>
            <a:off x="6035040" y="3447288"/>
            <a:ext cx="2880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(RLS) · pg_audit extension · pgcrypto · LDAP/Kerberos auth · EDB Audit plugin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320040" y="4096512"/>
            <a:ext cx="1234440" cy="621792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2"/>
          <p:cNvSpPr/>
          <p:nvPr/>
        </p:nvSpPr>
        <p:spPr>
          <a:xfrm>
            <a:off x="320040" y="4251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1581912" y="4096512"/>
            <a:ext cx="3063240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4"/>
          <p:cNvSpPr/>
          <p:nvPr/>
        </p:nvSpPr>
        <p:spPr>
          <a:xfrm>
            <a:off x="1691640" y="4160520"/>
            <a:ext cx="2880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Firewall · Role-Based Access Control (RBAC) · InnoDB encryption · Enterprise Audit plugin</a:t>
            </a:r>
            <a:endParaRPr lang="en-US" sz="850" dirty="0"/>
          </a:p>
        </p:txBody>
      </p:sp>
      <p:sp>
        <p:nvSpPr>
          <p:cNvPr id="41" name="Shape 35"/>
          <p:cNvSpPr/>
          <p:nvPr/>
        </p:nvSpPr>
        <p:spPr>
          <a:xfrm>
            <a:off x="4663440" y="4096512"/>
            <a:ext cx="1234440" cy="621792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6"/>
          <p:cNvSpPr/>
          <p:nvPr/>
        </p:nvSpPr>
        <p:spPr>
          <a:xfrm>
            <a:off x="4663440" y="4251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Server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5925312" y="4096512"/>
            <a:ext cx="3063240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8"/>
          <p:cNvSpPr/>
          <p:nvPr/>
        </p:nvSpPr>
        <p:spPr>
          <a:xfrm>
            <a:off x="6035040" y="4160520"/>
            <a:ext cx="2880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Encrypted · TDE · Dynamic Data Masking · Row-Level Security · SQL Server Audit · Extended Events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3: Risks &amp; Vulnerabilities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Native Security Alone Cannot Protect Your Data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Risks, Vulnerabilities &amp; the Limits of Native Security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60520" cy="3931920"/>
          </a:xfrm>
          <a:prstGeom prst="rect">
            <a:avLst/>
          </a:prstGeom>
          <a:solidFill>
            <a:srgbClr val="FFFAF9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Threats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SQL Injection (SQLi)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SQL injected via web forms executes against the DB. Native databases cannot distinguish a legitimate app query from a SQLi attack.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2075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Privilege Abuse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3500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DBAs require high-level access. If credentials are stolen or a DBA goes rogue, native security cannot stop them — they are the gatekeeper.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27340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Unpatched Vulnerabilities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00837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Zero-day CVEs in Oracle or SQL Server can be exploited before the vendor even releases a fix. Regular patching is critical.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02920" y="33924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Misconfigurations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66674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passwords left active, PUBLIC access granted to sensitive tables — complexity creates loopholes that attackers exploit.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914400"/>
            <a:ext cx="4160520" cy="3931920"/>
          </a:xfrm>
          <a:prstGeom prst="rect">
            <a:avLst/>
          </a:prstGeom>
          <a:solidFill>
            <a:srgbClr val="F8FA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28032" y="10058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5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of Native Security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28032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Performance Penalty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28032" y="16916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native auditing (logging every SELECT) consumes massive CPU &amp; disk I/O, degrading application performance.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28032" y="2075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Segregation of Duties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28032" y="23500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DBAs manage both the database AND its audit logs. A malicious DBA can steal data then delete the evidence — a critical compliance failure.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28032" y="27340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Reactive, Not Proactive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28032" y="300837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logs record what happened after the fact. There is no real-time block when 10,000 student records are being extracted right now.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28032" y="33924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Siloed Management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28032" y="366674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Oracle, SQL Server, Postgres each use different audit systems. No single unified security view across the entire DPE infrastructure.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4: How Imperva DAM Fills the Gap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· Blocking · Compliance · Unified Visibility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Imperva DAM Completely Solves the Security Deficit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914400"/>
          </a:xfrm>
          <a:prstGeom prst="rect">
            <a:avLst/>
          </a:prstGeom>
          <a:solidFill>
            <a:srgbClr val="E0F2F1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 continuously monitors 100% of database activity in real time, independent of the database, storing tamper-proof logs on a separate hardened server — eliminating every gap native security leaves open.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993392"/>
            <a:ext cx="4160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993392"/>
            <a:ext cx="4160520" cy="347472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2039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Performance Penalty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" y="241401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DAM Solution: Zero-impact OS-level agent never uses the database's CPU or memory for analysis. DB runs at 100% efficiency.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993392"/>
            <a:ext cx="4160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993392"/>
            <a:ext cx="4160520" cy="34747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2039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No Segregation of Duties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241401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DAM Solution: Audit logs stored on MX Management Server. DBAs have zero access to Imperva — they cannot delete evidence of their own actions.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3456432"/>
            <a:ext cx="4160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3456432"/>
            <a:ext cx="416052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35021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Reactive Logging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9768" y="387705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DAM Solution: Real-time blocking. If a SQL injection or bulk data extraction is detected, the Gateway severs the connection instantly — before data leaves.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3456432"/>
            <a:ext cx="4160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63440" y="3456432"/>
            <a:ext cx="4160520" cy="34747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54880" y="35021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Siloed Management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73168" y="387705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DAM Solution: Single pane of glass. One policy ('Alert on PII table access') applies across Oracle, Postgres, SQL Server, and MySQL simultaneously.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Imperva DAM: Three-Tier Decoupled Architecture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468880" cy="38862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2468880" cy="56692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47472" y="96926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47472" y="115214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(Sensor)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" y="159105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Deployed on the database host OS — kernel level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84048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Zero analysis done locally; forwards traffic only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28346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Captures LOCAL admin sessions (IPC/BEQ) — the most critical blind spot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84048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KABI integration for Linux/Oracle kernels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407822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Near-zero CPU/memory footprint on the DB server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926080" y="914400"/>
            <a:ext cx="3108960" cy="38862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926080" y="914400"/>
            <a:ext cx="3108960" cy="5669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999232" y="96926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999232" y="11521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(Brain)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35808" y="159105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Sits off the database — separate appliance or VM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35808" y="22128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Receives all agent traffic over encrypted port 443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035808" y="28346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Parses every SQL query in real time — full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035808" y="345643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Checks against security policies: SQLi signatures, profile deviations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035808" y="40782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Active mitigation: TCP reset issued BEFORE the DB executes malicious SQL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035808" y="470001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One Gateway can service multiple databases &amp; agents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9632" y="914400"/>
            <a:ext cx="2633472" cy="38862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199632" y="914400"/>
            <a:ext cx="2633472" cy="566928"/>
          </a:xfrm>
          <a:prstGeom prst="rect">
            <a:avLst/>
          </a:prstGeom>
          <a:solidFill>
            <a:srgbClr val="4A0080"/>
          </a:solidFill>
          <a:ln w="12700">
            <a:solidFill>
              <a:srgbClr val="4A0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72784" y="969264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272784" y="1152144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MX Server (Command Centre)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1591056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Centralized Web UI console for all config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09360" y="2212848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Tamper-proof immutable audit log vault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309360" y="2834640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DBAs have NO access — absolute separation of duties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309360" y="3456432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Advanced analytics, dashboards &amp; compliance reports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09360" y="4078224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Triggers Action Sets: SMS, Email, SIEM forwarding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61488" y="2852928"/>
            <a:ext cx="16459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053328" y="2852928"/>
            <a:ext cx="146304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697480" y="27249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961888" y="27249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999963" y="-1999641"/>
            <a:ext cx="5143500" cy="9143425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1733" y="0"/>
            <a:ext cx="6803134" cy="5143179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737118" y="-1264380"/>
            <a:ext cx="3670923" cy="9145160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A5C4C765-763F-6DB0-0659-D64BD3247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446628"/>
            <a:ext cx="8458200" cy="425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435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5: Deployment at DPE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5-Phase Installation: Agent → Gateway → MX Console → Verification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Strategy: Test Environment First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960120"/>
          </a:xfrm>
          <a:prstGeom prst="rect">
            <a:avLst/>
          </a:prstGeom>
          <a:solidFill>
            <a:srgbClr val="E0F2F1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Designated Test Database Environment — not the live IPEMIS production servers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2084832"/>
            <a:ext cx="26974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2084832"/>
            <a:ext cx="2697480" cy="3840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93192" y="2084832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Zero-Risk Verification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29768" y="2560320"/>
            <a:ext cx="24871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agents communicate flawlessly with the Gateway and MX over port 443 without firewall interruptions — before any production change.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2084832"/>
            <a:ext cx="26974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2084832"/>
            <a:ext cx="2697480" cy="38404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73552" y="2084832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Policy Tuning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310128" y="2560320"/>
            <a:ext cx="24871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normal DPE database behaviour, fine-tune security policies, and set baseline alert thresholds with zero risk to live IPEMIS applications.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80760" y="2084832"/>
            <a:ext cx="26974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80760" y="2084832"/>
            <a:ext cx="2697480" cy="3840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53912" y="2084832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Traffic Capture Proof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190488" y="2560320"/>
            <a:ext cx="24871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that both remote application queries AND local DBA terminal sessions (IPC/BEQ) are fully captured, parsed, and stored on the MX.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0: Agent Installation on Database Server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530352" cy="530352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85216" y="1536192"/>
            <a:ext cx="0" cy="237744"/>
          </a:xfrm>
          <a:prstGeom prst="line">
            <a:avLst/>
          </a:prstGeom>
          <a:noFill/>
          <a:ln w="19050">
            <a:solidFill>
              <a:srgbClr val="00968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5840" y="932688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43000" y="9875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Reconnaissance Script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43000" y="128016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Imperva FTP → navigate to the misc directory → download which_ragent.sh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1828800"/>
            <a:ext cx="530352" cy="530352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828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85216" y="2359152"/>
            <a:ext cx="0" cy="237744"/>
          </a:xfrm>
          <a:prstGeom prst="line">
            <a:avLst/>
          </a:prstGeom>
          <a:noFill/>
          <a:ln w="19050">
            <a:solidFill>
              <a:srgbClr val="00968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05840" y="1755648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43000" y="1810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Analysis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43000" y="21031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which_ragent.sh on the database server — it analyses the OS version and kernel footprint to identify the exact compatible agent package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651760"/>
            <a:ext cx="530352" cy="530352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6517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5216" y="3182112"/>
            <a:ext cx="0" cy="237744"/>
          </a:xfrm>
          <a:prstGeom prst="line">
            <a:avLst/>
          </a:prstGeom>
          <a:noFill/>
          <a:ln w="19050">
            <a:solidFill>
              <a:srgbClr val="00968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05840" y="2578608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143000" y="2633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Agent Package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43000" y="292608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Imperva FTP and download the recommended binary — install.sh or .bsx package, plus the KABI file if the Linux kernel requires it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474720"/>
            <a:ext cx="530352" cy="530352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4747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85216" y="4005072"/>
            <a:ext cx="0" cy="237744"/>
          </a:xfrm>
          <a:prstGeom prst="line">
            <a:avLst/>
          </a:prstGeom>
          <a:noFill/>
          <a:ln w="19050">
            <a:solidFill>
              <a:srgbClr val="00968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05840" y="3401568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143000" y="34564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Installation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143000" y="374904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installer as root. Provide the KABI file where required for deep OS-level kernel traffic interception on Linux/Oracle systems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297680"/>
            <a:ext cx="530352" cy="530352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42976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05840" y="4224528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143000" y="42793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&amp; Link to Gateway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43000" y="457200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the agent to the Imperva Gateway IP address — this establishes the secure SSL communication tunnel on port 443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Phases 1 – 3: Logical Hierarchy, Gateway Listener &amp; Agent Mapping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1417320" cy="1234440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9692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128016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Infrastructure (Sites &amp; Servers)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901952" y="914400"/>
            <a:ext cx="6949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029968" y="100584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Setup &gt; Sites — create Site (e.g., 'DPE Datacenter')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29968" y="128016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 Server Group by OS/DB type: linux_oracle_db  |  windows_server_db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29968" y="155448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Add Server: exact IP address + Hostname of the agent host machine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29968" y="182880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Add Database Service: select type (Oracle / MS SQL) and listening port (1521 / 1433)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304288"/>
            <a:ext cx="1417320" cy="1234440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3591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267004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Listener Configuration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901952" y="2304288"/>
            <a:ext cx="6949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029968" y="239572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Navigate to Setup &gt; Gateways → select the active Gateway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29968" y="267004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Confirm Agent Listener is active on Port 443 with SSL enabled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29968" y="294436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All agent-to-Gateway traffic is heavily encrypted in transit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694176"/>
            <a:ext cx="1417320" cy="123444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0040" y="3749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0040" y="4059936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Assignment &amp; Database Service Mapping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901952" y="3694176"/>
            <a:ext cx="6949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029968" y="378561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Setup &gt; Agents — the installed agent appears automatically (validates network path)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029968" y="405993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Settings tab → assign agent to the Server Group created in Phase 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029968" y="433425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Enable Agent Monitoring specifically for the newly created Database Service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29968" y="460857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This binds the agent's captured traffic to the correct audit policy scope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Phases 4 – 5: Data Interface Binding (Critical) &amp; Live Verification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503920" cy="3840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Data Interface Binding — Critical for Capturing Local Traffic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selected → Data Interfaces tab: 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138988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auto-discovered interfaces on the right side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00600" y="13898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/ MS SQL Server: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12280" y="138988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Un-ignore: MssQL IPC (local SSMS sessions) + TCP (remote app queries)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9385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/ Oracle Database: 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468880" y="193852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Un-ignore: Oracle BEQ + Oracle IPC (local DBA terminal) + TCP (remote)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00600" y="19385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un-ignored interface: 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12280" y="193852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Service drop-down → match exact Database Service created in Phase 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4871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248716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IPC/BEQ, DBA terminal sessions are completely invisible — the most dangerous blind spot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00600" y="24871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Finalise: 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12280" y="248716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Save in the top right corner to activate monitoring on all mapped interfaces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456432"/>
            <a:ext cx="8503920" cy="1389888"/>
          </a:xfrm>
          <a:prstGeom prst="rect">
            <a:avLst/>
          </a:prstGeom>
          <a:solidFill>
            <a:srgbClr val="E0F2F1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3456432"/>
            <a:ext cx="8503920" cy="3840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45643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5: Live Verification — Confirming 100% Capture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39319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Navigate to Audit &gt; DB Audit Data  →  select Data view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46320" y="39319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Execute test queries directly on the database — both remote (app simulation) and local (as admin)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43159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Set Time Frame to 'Last Hour'  →  click Update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46320" y="43159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Both query types now visible in logs: confirms successful capture, parsing, and tamper-proof storage on MX ✔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6: Features &amp; Functionalities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95 Operational Components — Organised by Category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1: UI Customisation, System Administration &amp; Access Control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Home Page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role (Auditor, Security Ops, DBA) lands on their most relevant dashboard immediately after login. Configured via Preferences &gt; Preferences.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Hanging Tabs &amp; Column Views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Hide/show Filter and Details panes to maximise screen real estate. Customise Alerts/Violations column grid via Action &gt; Select Columns.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Strength Policy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minimum length, character complexity (uppercase, numbers, special chars), and validity period for all local MX user accounts via Admin &gt; System Definitions.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Change Comments &amp; ADC Updates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admins to log a reason for every security policy change — auto-creates an Activity Log. Schedule daily ADC vulnerability content updates.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Accounts &amp; Custom Roles (RBAC)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MX users with temporary passwords. Build custom roles with granular controls: which workspaces, tabs, and menus each role can access, with View/Edit/Create rights.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Auth (AD/LDAP) &amp; Personal Info Masking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Active Directory/LDAP for centralised login. PIM hashes usernames, hostnames, IPs with HMAC-SHA256 — authorised users unmask per session.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2: Infrastructure Setup, Discovery &amp; Log Filtering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Objects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Centrally managed containers (IP Groups, Windows Domains, Stored Procedure Groups) applied globally — reduces repetitive configuration and false-positive alerts.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Tree Hierarchy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Cascading structure: Site → Server Group → Service → Application. Supports load balancer forwarded-IP headers (X-Forwarded-For, True-Client-IP).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Discovery Scans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Actively scans subnets for rogue or unprotected databases. Auto-names new entities using $SITE, $IP, $SERVICE_TYPE placeholders. Can auto-add to Sites Tree.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&amp; Protecting Discovered Servers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discovered servers to create Server Groups/Services. Click 'Add to Protected IPs' — verified by blue checkmark in the Protected column.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&amp; Advanced Log Filters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Checkbox-based quick filters (By Severity, By SubSystem) plus Advanced Filters using AND/OR logical operators with Enabled Fields and Predefined Values.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Filter &amp; Operation Modes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 text or attribute search (ip:, user:, session: syntax) above any log grid. Server Group modes: Simulation (log only) → Active (block) → Disabled.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3: Agent Tuning, Direct Access &amp; Encryption Decryption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CPU Restraining &amp; Blocking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max CPU % limit to protect DB server performance. Enable Blocking checkbox for the agent to actively drop traffic when Server Group is in Active mode.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Interfaces &amp; Exclusion Rules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bind discovered TCP/IPC/BEQ interfaces. Create Agent Exclusion Rules at Global Objects level to drop high-volume trusted connections (e.g., nightly backups) before they reach the Gateway.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Access Credentials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DB credentials on the MX for internal operations: reading stored procedures, classifying sensitive data, running assessments. Use a dedicated privileged account — not a shared DBA login.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Procedure Groups &amp; Kerberos Keys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stored procedure groups to DB Applications so Imperva audits SQL inside precompiled procedures. Provide Kerberos domain\username keys to decrypt MS SQL Server network authentication.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'Hashed User' (SSL Decryption)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SSL encrypts DB logins, usernames appear as 'Hashed User'. Fix: upload the DB server SSL certificate (PKCS12/PFX) to Service Definitions → Encryption Support.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'Connected User' &amp; Text Normalisation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MX Connection Timeout to the DB server's session timeout. Use Text Replacement in the Service Operation tab to strip dynamic variables from queries and prevent profile bloat.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4: Behavioural Profiling &amp; SQL Whitelist Engine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Overview &amp; Thresholds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stats across all sites: users, query groups, tables. Tune time-based thresholds (in hours) for graduating profiles from Learning → Static Protect → Dynamic Protect mode.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User Attributes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learns source IPs, OS hostnames, source applications per user. Padlock icon freezes a category — any new value triggers a policy violation.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Groups &amp; Enforcement Modes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Normalises SQL (variables → '?') into unique Query Groups. Each group set to Learning, Dynamic Protect, or Static Protect. Expand to read literal SQL statements recorded.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Blacklist Tables, Time Restrictions &amp; Privileged Ops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 users from accessing sensitive table groups. Paint time grids to restrict DB access to business hours only. Whitelist DBA privileged operations (ALTER, DROP, GRANT) to prevent false positives.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Group Profiles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users with identical roles (DBA Group, App Service Account) to share learned attributes. Move individuals into groups — they inherit all shared profile settings automatically.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/ Revert Learning Engine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Learning Engine (SQL Profile Policy → Advanced tab) to freeze a mature profile and save CPU. Or revert all Query Groups to Learning mode to completely suspend enforcement in erratic environments.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5: Data Masking, PIM &amp; Sensitive Data Classification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Masking (Sensitive Dictionaries)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credit cards, SSNs, National IDs with asterisks (***) before storage in the MX database. Applied to Requests and DB Audit Responses. Configurable per specific table groups.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 Masking (PIM)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Hashes usernames, hostnames, source IPs with HMAC-SHA256 in all UI views. Enabled via MX CLI (dam.properties). Authorised users unmask temporarily per session for investigations.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 &amp; Scan Profiles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Predefined labels (Email, PCI, Account Number) or custom Data Types. Scan Profiles define which types to hunt for, sample accuracy (default 75%), and throttle settings.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Classification Rules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Column-name pattern matching OR Regex content-based patterns for proprietary data (e.g., columns named 'NID', 'TaxCode'). Assign to existing or new Data Types.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DB Classification Scans &amp; Analyse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against Protected IPs using Direct Access credentials. Summary View shows coloured distribution graphs of findings by database, schema, and table.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Results &amp; Generate Table Groups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Tables workflow: Accept verified findings to auto-generate Global Database Table Groups — instantly linked to the DB Application and usable in security policies.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6: Security Policies, Blocking &amp; Simulation Workflow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&amp; Auto-Applied Policies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Profile Policy, SQL Protocol Policy, SQL Correlation Policy — automatically applied to every new DB Service or Application. Provides immediate baseline protection out-of-the-box.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Tuning: Severity, Enable/Block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Per-rule controls on any policy: toggle Enabled/Disabled, set Severity (Info/Low/Medium/High), set Action (None to alert only, or Block to drop traffic). Expand rules for advanced parameters.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Security Policies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from scratch or clone existing policies. Define Match Criteria: specific DB user, event type, targeted column, or source IP. Apply at DB Service or DB Application level.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Mode + Rule-Level Blocking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Two-lever requirement: (1) Server Group set to Active mode AND (2) individual rule Action set to Block. Both conditions must be true for traffic to actually be dropped.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Blocking: Session, User &amp; IP Block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dropping one packet: Terminate DB Session (sever the connection), User Block (lock the DB account), IP Block (drop ALL traffic from attacker IP for a set duration).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Simulation-First Safe Deployment Workflow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Simulation → configure blocking rules → wait for all scheduled jobs to run → review Alert Report with DBAs to eliminate false positives → only then switch to Active mode.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7: Action Interfaces, Action Sets &amp; Automated Archiving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Interfaces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external communication mechanisms: SMTP Email, Syslog (CEF), SCP/FTP Archive, SNMP Trap. Each interface stores technical parameters (SMTP server, port, auth) for reuse.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Sets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one or more Action Interfaces into a named set. Define scope: Security Violations, System Events, Audit, Archiving, or Assessments. Apply at Service, Application, or DB App level.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Followed Actions on Security Rules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an Action Set to a specific policy rule — when a violation fires, the Action Set automatically triggers (e.g., send Syslog to SIEM + email to DBA team simultaneously).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Followed Actions on System Jobs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Action Sets to system maintenance jobs (MX Database Backup, Audit Archiving). Failed deliveries are stored in /var/tmp/failed_delivery on the MX for manual retrieval.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Archiving Locations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Audit Policy → Archiving tab: assign an FTP/SCP/NFS Action Set with a daily schedule. Set Purge threshold — gateway only deletes records older than this AND already archived.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Retention &amp; Archive Job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Archive job: auto-transfers old reports to external storage via FTP/SCP, then purges from MX. Enforces data retention policy and manages disk space automatically.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8: Audit Framework, Aggregation, SIEM &amp; Health Statistics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Audit Data: Fast View vs. Live Fetch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View pre-fetches recent data daily for instant loading. For data outside the cache window, click Update to force live query from Gateways. Configure Fast View days in Policy → Settings tab.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Queries &amp; Aggregation Tuning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are normalised (variables → '?') — identical structures increment a hit counter rather than creating duplicate rows. Set Event aggregation time window (e.g., 30 min) to control disk usage.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Audit Policies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'Default Rule – All Events' with targeted policies scoped to specific event types, DB users, or tables — saving significant CPU and gateway disk I/O.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Data Collection &amp; DB Responses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Extended Collection Events (unparsed queries, response sizes, timestamps). Enable DB Responses to capture actual data returned by the DB — specify Include/Exclude tables to control storage impact.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 &amp; Analytics Views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Logger tab: forward logs to Splunk/QRadar in Syslog CEF format from the MX or directly from the Gateway. Use predefined views (Source Analysis, Privileged Ops) with persistent filters.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Stats Dashboard &amp; Convert View to Report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Statistics: Gateway load, policy disk footprint, indexing status. Customise any Data View layout then click Save as Report to instantly create a scheduled, distributable report.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9: Monitoring, Alert Triage &amp; Incident Response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Alert Dashboard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single-pane view: Gateway CPU load, ThreatRadar status, Connections/sec, Throughput graphs, Alerts per Severity, and Latest Alerts — click any item to open full details.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Violations vs. Aggregated Alerts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Violations = individual events (literal SQL, source IP, error codes visible in Details pane). Alerts = smart containers aggregating up to 30 identical violations over 12 hours — reduces alert fatigue.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 Workflow (Flags)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Right-click any alert: Mark as Important (!), Acknowledged (green ✓), Dismissed (×), or Unread (bold). Enables structured incident tracking without an external ticketing system.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&amp; Search Mechanics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(checkbox) filters, Advanced filters (AND/OR operators), and Quick Filter (ip:, user:, session: syntax). Filters are cross-view persistent — apply in Source Analysis, switch to Access Patterns view.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Policies Review &amp; Profile Blocking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Policies tab on any DB Service/Application shows active baseline. For profile-based blocking, Query Groups must be in Static or Dynamic Protect mode — not Learning mode.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Policy Configuration Reports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compliance docs listing all active policies, enabled rules, severity levels, and assets they protect. Schedule quarterly for audit requirements. Top 10 Attack pie charts for executive reporting.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10: Risk Assessments, URM &amp; Reporting Engine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Policies: CIS, DISA-STIG, PCI-DSS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benchmarks with per-test Overview, Recommended Fix, and Technical Details. Filter by DB type (Oracle, MsSql). Tag policies (e.g., 'DPE-DB') for batch Tag-Based Scans.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Scans &amp; CVSS Risk Score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Policy-Based Scan (single policy) or Tag-Based Scan (multiple policies by tag). Risk Calculator runs nightly; trigger 'Run Now' via Admin &gt; Jobs Status after any ad-hoc scan.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Console: Dashboards &amp; Comparison View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View and Data View show at-risk Server Groups. Comparison View explicitly contrasts a recent scan vs. baseline — verifies whether vulnerabilities have been successfully remediated.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User Rights Management (URM) Scans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into the database and maps all granted roles and effective permissions. 'Ignore DBA Users' option off = reveals application accounts with improper DBA-level access.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Permissions &amp; Access Path Visualisation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any user row → click Show Paths → visual map shows the complete privilege chain from the account through nested AD groups to the specific database object.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Engine: Create, Schedule, Distribute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reports for Alerts, Audit Data, Configuration, Assessment, Profile, and URM. Configure charts and tables. Schedule daily/weekly/monthly. Auto-distribute via Email Action Interface.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Imperva DAM: Risk Elimination Summary at DPE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32688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932688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SQL Injection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3017520" y="1225296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91840" y="932688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1014984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SQL Protocol &amp; Profile policies detect malformed / excessively long queries; Gateway issues TCP reset before the DB executes the malicious statement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627632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627632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Privilege Abuse / Insider Threat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3017520" y="1920240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91840" y="1627632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83280" y="1709928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Behavioural profiling flags any query or table access outside the user's learned whitelist; tamper-proof logs on MX — DBAs cannot delete their own audit trail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322576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2322576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Encrypted Credentials (Hashed User)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17520" y="2615184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91840" y="2322576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83280" y="2404872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DB server SSL certificate upload + Kerberos key configuration reveals true usernames in every audit record — zero blind spots in the identity trail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017520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0040" y="3017520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Bulk Data Exfiltration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017520" y="3310128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91840" y="3017520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83280" y="3099816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Extended DB Response auditing + anomalous row-count SIEM alerts + real-time blocking stop data theft before it leaves the network perimeter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712464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3712464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Compliance &amp; Audit Gaps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017520" y="4005072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91840" y="3712464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383280" y="3794760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CIS / DISA-STIG / PCI-DSS built-in assessments with CVSS scoring; automated quarterly compliance reports distributed to DPE auditors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4407408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20040" y="4407408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Rogue / Shadow Databases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017520" y="4700016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91840" y="4407408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383280" y="4489704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Service Discovery Scans actively probe all subnets; any unprotected database spun up by a DBA is detected and auto-added to the protection scope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457200"/>
            <a:ext cx="3474720" cy="347472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8080" y="2926080"/>
            <a:ext cx="2926080" cy="2926080"/>
          </a:xfrm>
          <a:prstGeom prst="ellipse">
            <a:avLst/>
          </a:prstGeom>
          <a:solidFill>
            <a:srgbClr val="2E5090">
              <a:alpha val="20000"/>
            </a:srgbClr>
          </a:solidFill>
          <a:ln w="12700">
            <a:solidFill>
              <a:srgbClr val="2E509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7432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66420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320040" y="2578608"/>
            <a:ext cx="4206240" cy="107899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411480" y="2843784"/>
            <a:ext cx="548640" cy="548640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880360"/>
            <a:ext cx="475488" cy="4754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9848" y="265176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Capability Verified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069848" y="2999232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95 operational components of Imperva DAM confirmed on DPE test environment — from UI management to full risk governance.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754880" y="2578608"/>
            <a:ext cx="4206240" cy="107899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846320" y="2843784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2880360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04688" y="265176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Native Logs Replaced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5504688" y="2999232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external audit architecture permanently bridges the insider-threat and DBA blind spots native security leaves open.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320040" y="3749040"/>
            <a:ext cx="4206240" cy="107899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411480" y="4014216"/>
            <a:ext cx="548640" cy="548640"/>
          </a:xfrm>
          <a:prstGeom prst="ellipse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" y="4050792"/>
            <a:ext cx="475488" cy="4754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69848" y="382219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Governance Realised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1069848" y="4169664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classification, behavioural profiling, and User Rights Management give DPE full visibility over sensitive data and effective user permissions.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4754880" y="3749040"/>
            <a:ext cx="4206240" cy="107899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4846320" y="4014216"/>
            <a:ext cx="548640" cy="548640"/>
          </a:xfrm>
          <a:prstGeom prst="ellipse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050792"/>
            <a:ext cx="475488" cy="47548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504688" y="382219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 Ready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5504688" y="4169664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steps proven, MX hierarchy mapped, and policy simulation workflow validated. Ready to scale to live IPEMIS production databases.</a:t>
            </a:r>
            <a:endParaRPr lang="en-US" sz="950" dirty="0"/>
          </a:p>
        </p:txBody>
      </p:sp>
      <p:sp>
        <p:nvSpPr>
          <p:cNvPr id="26" name="Shape 19"/>
          <p:cNvSpPr/>
          <p:nvPr/>
        </p:nvSpPr>
        <p:spPr>
          <a:xfrm>
            <a:off x="2926080" y="4681728"/>
            <a:ext cx="3291840" cy="45720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0"/>
          <p:cNvSpPr/>
          <p:nvPr/>
        </p:nvSpPr>
        <p:spPr>
          <a:xfrm>
            <a:off x="457200" y="47731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Infosonik Systems Limited  ·  Imperva SecureSphere  ·  DPE Bangladesh  ·  2025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</TotalTime>
  <Words>4828</Words>
  <Application>Microsoft Office PowerPoint</Application>
  <PresentationFormat>On-screen Show (16:9)</PresentationFormat>
  <Paragraphs>460</Paragraphs>
  <Slides>32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Imperva DAM – DPE Bangladesh</dc:title>
  <dc:subject>PptxGenJS Presentation</dc:subject>
  <dc:creator>Infosonik Systems Limited</dc:creator>
  <cp:lastModifiedBy>HP</cp:lastModifiedBy>
  <cp:revision>3</cp:revision>
  <dcterms:created xsi:type="dcterms:W3CDTF">2026-06-15T07:44:19Z</dcterms:created>
  <dcterms:modified xsi:type="dcterms:W3CDTF">2026-10-06T10:19:45Z</dcterms:modified>
</cp:coreProperties>
</file>